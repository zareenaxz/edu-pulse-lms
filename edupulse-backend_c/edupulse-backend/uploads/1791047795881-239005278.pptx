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3"/>
    <p:sldId id="257" r:id="rId4"/>
    <p:sldId id="267" r:id="rId5"/>
    <p:sldId id="265" r:id="rId6"/>
  </p:sldIdLst>
  <p:sldSz cx="18288000" cy="10287000"/>
  <p:notesSz cx="6858000" cy="9144000"/>
  <p:embeddedFontLst>
    <p:embeddedFont>
      <p:font typeface="Bryndan Write" panose="020B0604020202020204" charset="0"/>
      <p:regular r:id="rId7"/>
    </p:embeddedFont>
    <p:embeddedFont>
      <p:font typeface="Century" panose="02040604050505020304" pitchFamily="18" charset="0"/>
      <p:regular r:id="rId8"/>
    </p:embeddedFont>
    <p:embeddedFont>
      <p:font typeface="HP Simplified" panose="020B0604020204020204" pitchFamily="34" charset="0"/>
      <p:regular r:id="rId9"/>
      <p:bold r:id="rId10"/>
      <p:italic r:id="rId11"/>
      <p:boldItalic r:id="rId12"/>
    </p:embeddedFont>
    <p:embeddedFont>
      <p:font typeface="HP Simplified Jpan" panose="020B0500000000000000" pitchFamily="34" charset="-128"/>
      <p:regular r:id="rId13"/>
    </p:embeddedFont>
    <p:embeddedFont>
      <p:font typeface="Open Sans Bold" panose="020B0604020202020204" charset="0"/>
      <p:regular r:id="rId14"/>
    </p:embeddedFont>
    <p:embeddedFont>
      <p:font typeface="Poppins" panose="000005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">
            <a:extLst>
              <a:ext uri="{FF2B5EF4-FFF2-40B4-BE49-F238E27FC236}">
                <a16:creationId xmlns:a16="http://schemas.microsoft.com/office/drawing/2014/main" id="{131D539C-9681-57D8-7FA9-87CB559EA1A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57" b="-218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C08B799A-50B3-84CC-2BF9-44EE757BFD62}"/>
              </a:ext>
            </a:extLst>
          </p:cNvPr>
          <p:cNvSpPr txBox="1"/>
          <p:nvPr/>
        </p:nvSpPr>
        <p:spPr>
          <a:xfrm>
            <a:off x="881053" y="604950"/>
            <a:ext cx="16192235" cy="273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1495"/>
              </a:lnSpc>
              <a:spcBef>
                <a:spcPct val="0"/>
              </a:spcBef>
            </a:pPr>
            <a:r>
              <a:rPr lang="en-US" sz="8210" b="1" dirty="0">
                <a:solidFill>
                  <a:srgbClr val="34482A"/>
                </a:solidFill>
                <a:latin typeface="HP Simplified Jpan" panose="020B0500000000000000" pitchFamily="34" charset="-128"/>
                <a:ea typeface="HP Simplified Jpan" panose="020B0500000000000000" pitchFamily="34" charset="-128"/>
                <a:cs typeface="Inter Bold"/>
                <a:sym typeface="Inter Bold"/>
              </a:rPr>
              <a:t>AI Based Automation for Smart Farming Management</a:t>
            </a:r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59DEBC8D-D3A1-317F-7517-E8AD024D8FBF}"/>
              </a:ext>
            </a:extLst>
          </p:cNvPr>
          <p:cNvSpPr txBox="1"/>
          <p:nvPr/>
        </p:nvSpPr>
        <p:spPr>
          <a:xfrm>
            <a:off x="3938118" y="3874380"/>
            <a:ext cx="10411765" cy="3618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759"/>
              </a:lnSpc>
            </a:pPr>
            <a:r>
              <a:rPr lang="en-US" sz="3399" spc="401">
                <a:solidFill>
                  <a:srgbClr val="34482A"/>
                </a:solidFill>
                <a:latin typeface="Poppins"/>
                <a:ea typeface="Poppins"/>
                <a:cs typeface="Poppins"/>
                <a:sym typeface="Poppins"/>
              </a:rPr>
              <a:t>GROUP MEMBERS :</a:t>
            </a:r>
          </a:p>
          <a:p>
            <a:pPr algn="ctr">
              <a:lnSpc>
                <a:spcPts val="4759"/>
              </a:lnSpc>
            </a:pPr>
            <a:r>
              <a:rPr lang="en-US" sz="3399" spc="401">
                <a:solidFill>
                  <a:srgbClr val="34482A"/>
                </a:solidFill>
                <a:latin typeface="Poppins"/>
                <a:ea typeface="Poppins"/>
                <a:cs typeface="Poppins"/>
                <a:sym typeface="Poppins"/>
              </a:rPr>
              <a:t>ZAREEN BUSHRA (0112230248)</a:t>
            </a:r>
          </a:p>
          <a:p>
            <a:pPr algn="ctr">
              <a:lnSpc>
                <a:spcPts val="4759"/>
              </a:lnSpc>
            </a:pPr>
            <a:r>
              <a:rPr lang="en-US" sz="3399" spc="401">
                <a:solidFill>
                  <a:srgbClr val="34482A"/>
                </a:solidFill>
                <a:latin typeface="Poppins"/>
                <a:ea typeface="Poppins"/>
                <a:cs typeface="Poppins"/>
                <a:sym typeface="Poppins"/>
              </a:rPr>
              <a:t>NOWSHIN NAWAR (0112230331)</a:t>
            </a:r>
          </a:p>
          <a:p>
            <a:pPr algn="ctr">
              <a:lnSpc>
                <a:spcPts val="4759"/>
              </a:lnSpc>
            </a:pPr>
            <a:r>
              <a:rPr lang="en-US" sz="3399" spc="401">
                <a:solidFill>
                  <a:srgbClr val="34482A"/>
                </a:solidFill>
                <a:latin typeface="Poppins"/>
                <a:ea typeface="Poppins"/>
                <a:cs typeface="Poppins"/>
                <a:sym typeface="Poppins"/>
              </a:rPr>
              <a:t>REDWAN HOSSAIN ROMIT (0112230544)</a:t>
            </a:r>
          </a:p>
          <a:p>
            <a:pPr algn="ctr">
              <a:lnSpc>
                <a:spcPts val="4759"/>
              </a:lnSpc>
            </a:pPr>
            <a:r>
              <a:rPr lang="en-US" sz="3399" spc="401">
                <a:solidFill>
                  <a:srgbClr val="34482A"/>
                </a:solidFill>
                <a:latin typeface="Poppins"/>
                <a:ea typeface="Poppins"/>
                <a:cs typeface="Poppins"/>
                <a:sym typeface="Poppins"/>
              </a:rPr>
              <a:t>SHAKIB HOSSEN (0112230173)</a:t>
            </a:r>
          </a:p>
          <a:p>
            <a:pPr algn="ctr">
              <a:lnSpc>
                <a:spcPts val="4759"/>
              </a:lnSpc>
            </a:pPr>
            <a:endParaRPr lang="en-US" sz="3399" spc="401">
              <a:solidFill>
                <a:srgbClr val="3448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E1305B96-3E49-21C9-65CC-1E12FFA021EE}"/>
              </a:ext>
            </a:extLst>
          </p:cNvPr>
          <p:cNvSpPr/>
          <p:nvPr/>
        </p:nvSpPr>
        <p:spPr>
          <a:xfrm>
            <a:off x="8977171" y="4436220"/>
            <a:ext cx="7944966" cy="4429319"/>
          </a:xfrm>
          <a:custGeom>
            <a:avLst/>
            <a:gdLst/>
            <a:ahLst/>
            <a:cxnLst/>
            <a:rect l="l" t="t" r="r" b="b"/>
            <a:pathLst>
              <a:path w="7944966" h="4429319">
                <a:moveTo>
                  <a:pt x="0" y="0"/>
                </a:moveTo>
                <a:lnTo>
                  <a:pt x="7944966" y="0"/>
                </a:lnTo>
                <a:lnTo>
                  <a:pt x="7944966" y="4429319"/>
                </a:lnTo>
                <a:lnTo>
                  <a:pt x="0" y="4429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7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584CEA47-98A9-C946-01FA-025EB489A5ED}"/>
              </a:ext>
            </a:extLst>
          </p:cNvPr>
          <p:cNvSpPr/>
          <p:nvPr/>
        </p:nvSpPr>
        <p:spPr>
          <a:xfrm rot="956443">
            <a:off x="13676177" y="2091808"/>
            <a:ext cx="1013255" cy="961671"/>
          </a:xfrm>
          <a:custGeom>
            <a:avLst/>
            <a:gdLst/>
            <a:ahLst/>
            <a:cxnLst/>
            <a:rect l="l" t="t" r="r" b="b"/>
            <a:pathLst>
              <a:path w="1013255" h="961671">
                <a:moveTo>
                  <a:pt x="0" y="0"/>
                </a:moveTo>
                <a:lnTo>
                  <a:pt x="1013254" y="0"/>
                </a:lnTo>
                <a:lnTo>
                  <a:pt x="1013254" y="961671"/>
                </a:lnTo>
                <a:lnTo>
                  <a:pt x="0" y="9616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49358F-5C09-AA6F-FF66-D0E6559C0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48"/>
          <a:stretch>
            <a:fillRect/>
          </a:stretch>
        </p:blipFill>
        <p:spPr>
          <a:xfrm>
            <a:off x="2743200" y="2324100"/>
            <a:ext cx="12801600" cy="7772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5D7158-619F-79C9-1B87-1A2D1B08DFA4}"/>
              </a:ext>
            </a:extLst>
          </p:cNvPr>
          <p:cNvSpPr txBox="1"/>
          <p:nvPr/>
        </p:nvSpPr>
        <p:spPr>
          <a:xfrm>
            <a:off x="6858000" y="125730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latin typeface="Century" panose="02040604050505020304" pitchFamily="18" charset="0"/>
                <a:cs typeface="Courier New" panose="02070309020205020404" pitchFamily="49" charset="0"/>
              </a:rPr>
              <a:t>Functionality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908794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17788415" y="8851031"/>
            <a:ext cx="401653" cy="19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B6FE92D-B3F8-7914-3166-29D8FA245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465" y="1409700"/>
            <a:ext cx="11827069" cy="87630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68F69A2-C894-9C38-A2B4-B8328DFF869F}"/>
              </a:ext>
            </a:extLst>
          </p:cNvPr>
          <p:cNvSpPr txBox="1"/>
          <p:nvPr/>
        </p:nvSpPr>
        <p:spPr>
          <a:xfrm>
            <a:off x="6362699" y="612491"/>
            <a:ext cx="556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Century" panose="02040604050505020304" pitchFamily="18" charset="0"/>
                <a:cs typeface="Courier New" panose="02070309020205020404" pitchFamily="49" charset="0"/>
              </a:rPr>
              <a:t>Major Components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068B4945-B169-DD8D-B90E-11A36F634F25}"/>
              </a:ext>
            </a:extLst>
          </p:cNvPr>
          <p:cNvSpPr txBox="1"/>
          <p:nvPr/>
        </p:nvSpPr>
        <p:spPr>
          <a:xfrm>
            <a:off x="2242747" y="495270"/>
            <a:ext cx="100738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atin typeface="Century" panose="02040604050505020304" pitchFamily="18" charset="0"/>
                <a:cs typeface="Courier New" panose="02070309020205020404" pitchFamily="49" charset="0"/>
              </a:rPr>
              <a:t>Benefits  &amp;</a:t>
            </a:r>
            <a:endParaRPr lang="en-US" sz="48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119AD2A-4281-BA3D-6434-6CE42940B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820" y="352724"/>
            <a:ext cx="2908044" cy="11766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B30501-6CC6-A840-5B7F-E8DB5EE51921}"/>
              </a:ext>
            </a:extLst>
          </p:cNvPr>
          <p:cNvSpPr txBox="1"/>
          <p:nvPr/>
        </p:nvSpPr>
        <p:spPr>
          <a:xfrm>
            <a:off x="2591180" y="418085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72970C-EFE1-B91A-A900-40A3E5447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-11049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1" name="Group 24">
            <a:extLst>
              <a:ext uri="{FF2B5EF4-FFF2-40B4-BE49-F238E27FC236}">
                <a16:creationId xmlns:a16="http://schemas.microsoft.com/office/drawing/2014/main" id="{538313A5-8912-D3E0-9A65-F77E5F1FC646}"/>
              </a:ext>
            </a:extLst>
          </p:cNvPr>
          <p:cNvGrpSpPr/>
          <p:nvPr/>
        </p:nvGrpSpPr>
        <p:grpSpPr>
          <a:xfrm>
            <a:off x="1195018" y="1985109"/>
            <a:ext cx="6084678" cy="1004251"/>
            <a:chOff x="0" y="0"/>
            <a:chExt cx="646561" cy="256331"/>
          </a:xfrm>
        </p:grpSpPr>
        <p:sp>
          <p:nvSpPr>
            <p:cNvPr id="13" name="Freeform 25">
              <a:extLst>
                <a:ext uri="{FF2B5EF4-FFF2-40B4-BE49-F238E27FC236}">
                  <a16:creationId xmlns:a16="http://schemas.microsoft.com/office/drawing/2014/main" id="{05CC95E3-B30E-B61D-E15B-0446769ECE7F}"/>
                </a:ext>
              </a:extLst>
            </p:cNvPr>
            <p:cNvSpPr/>
            <p:nvPr/>
          </p:nvSpPr>
          <p:spPr>
            <a:xfrm>
              <a:off x="0" y="0"/>
              <a:ext cx="646561" cy="256331"/>
            </a:xfrm>
            <a:custGeom>
              <a:avLst/>
              <a:gdLst/>
              <a:ahLst/>
              <a:cxnLst/>
              <a:rect l="l" t="t" r="r" b="b"/>
              <a:pathLst>
                <a:path w="646561" h="256331">
                  <a:moveTo>
                    <a:pt x="128166" y="0"/>
                  </a:moveTo>
                  <a:lnTo>
                    <a:pt x="518396" y="0"/>
                  </a:lnTo>
                  <a:cubicBezTo>
                    <a:pt x="552388" y="0"/>
                    <a:pt x="584987" y="13503"/>
                    <a:pt x="609023" y="37539"/>
                  </a:cubicBezTo>
                  <a:cubicBezTo>
                    <a:pt x="633058" y="61575"/>
                    <a:pt x="646561" y="94174"/>
                    <a:pt x="646561" y="128166"/>
                  </a:cubicBezTo>
                  <a:lnTo>
                    <a:pt x="646561" y="128166"/>
                  </a:lnTo>
                  <a:cubicBezTo>
                    <a:pt x="646561" y="198949"/>
                    <a:pt x="589180" y="256331"/>
                    <a:pt x="518396" y="256331"/>
                  </a:cubicBezTo>
                  <a:lnTo>
                    <a:pt x="128166" y="256331"/>
                  </a:lnTo>
                  <a:cubicBezTo>
                    <a:pt x="94174" y="256331"/>
                    <a:pt x="61575" y="242828"/>
                    <a:pt x="37539" y="218792"/>
                  </a:cubicBezTo>
                  <a:cubicBezTo>
                    <a:pt x="13503" y="194757"/>
                    <a:pt x="0" y="162157"/>
                    <a:pt x="0" y="128166"/>
                  </a:cubicBezTo>
                  <a:lnTo>
                    <a:pt x="0" y="128166"/>
                  </a:lnTo>
                  <a:cubicBezTo>
                    <a:pt x="0" y="94174"/>
                    <a:pt x="13503" y="61575"/>
                    <a:pt x="37539" y="37539"/>
                  </a:cubicBezTo>
                  <a:cubicBezTo>
                    <a:pt x="61575" y="13503"/>
                    <a:pt x="94174" y="0"/>
                    <a:pt x="128166" y="0"/>
                  </a:cubicBezTo>
                  <a:close/>
                </a:path>
              </a:pathLst>
            </a:custGeom>
            <a:solidFill>
              <a:srgbClr val="A6D47B"/>
            </a:solidFill>
          </p:spPr>
        </p:sp>
        <p:sp>
          <p:nvSpPr>
            <p:cNvPr id="15" name="TextBox 26">
              <a:extLst>
                <a:ext uri="{FF2B5EF4-FFF2-40B4-BE49-F238E27FC236}">
                  <a16:creationId xmlns:a16="http://schemas.microsoft.com/office/drawing/2014/main" id="{AC9C2100-70BC-4820-4637-3C80D4B47033}"/>
                </a:ext>
              </a:extLst>
            </p:cNvPr>
            <p:cNvSpPr txBox="1"/>
            <p:nvPr/>
          </p:nvSpPr>
          <p:spPr>
            <a:xfrm>
              <a:off x="0" y="-66675"/>
              <a:ext cx="646561" cy="323006"/>
            </a:xfrm>
            <a:prstGeom prst="rect">
              <a:avLst/>
            </a:prstGeom>
          </p:spPr>
          <p:txBody>
            <a:bodyPr lIns="29700" tIns="29700" rIns="29700" bIns="29700" rtlCol="0" anchor="ctr"/>
            <a:lstStyle/>
            <a:p>
              <a:pPr algn="ctr">
                <a:lnSpc>
                  <a:spcPts val="2709"/>
                </a:lnSpc>
              </a:pPr>
              <a:endParaRPr lang="en-US" sz="1935" dirty="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endParaRPr>
            </a:p>
          </p:txBody>
        </p:sp>
      </p:grpSp>
      <p:sp>
        <p:nvSpPr>
          <p:cNvPr id="17" name="Freeform 4">
            <a:extLst>
              <a:ext uri="{FF2B5EF4-FFF2-40B4-BE49-F238E27FC236}">
                <a16:creationId xmlns:a16="http://schemas.microsoft.com/office/drawing/2014/main" id="{4EB812D6-C00D-8BE4-9822-0D52EBBC58D1}"/>
              </a:ext>
            </a:extLst>
          </p:cNvPr>
          <p:cNvSpPr/>
          <p:nvPr/>
        </p:nvSpPr>
        <p:spPr>
          <a:xfrm rot="21482534">
            <a:off x="17415198" y="9272490"/>
            <a:ext cx="676983" cy="1040058"/>
          </a:xfrm>
          <a:custGeom>
            <a:avLst/>
            <a:gdLst/>
            <a:ahLst/>
            <a:cxnLst/>
            <a:rect l="l" t="t" r="r" b="b"/>
            <a:pathLst>
              <a:path w="676983" h="1040058">
                <a:moveTo>
                  <a:pt x="0" y="0"/>
                </a:moveTo>
                <a:lnTo>
                  <a:pt x="676983" y="0"/>
                </a:lnTo>
                <a:lnTo>
                  <a:pt x="676983" y="1040058"/>
                </a:lnTo>
                <a:lnTo>
                  <a:pt x="0" y="10400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4">
            <a:extLst>
              <a:ext uri="{FF2B5EF4-FFF2-40B4-BE49-F238E27FC236}">
                <a16:creationId xmlns:a16="http://schemas.microsoft.com/office/drawing/2014/main" id="{1EFBA5A2-993B-8E76-7B88-106E20131570}"/>
              </a:ext>
            </a:extLst>
          </p:cNvPr>
          <p:cNvSpPr/>
          <p:nvPr/>
        </p:nvSpPr>
        <p:spPr>
          <a:xfrm rot="21482534">
            <a:off x="17568" y="9196118"/>
            <a:ext cx="676983" cy="1040058"/>
          </a:xfrm>
          <a:custGeom>
            <a:avLst/>
            <a:gdLst/>
            <a:ahLst/>
            <a:cxnLst/>
            <a:rect l="l" t="t" r="r" b="b"/>
            <a:pathLst>
              <a:path w="676983" h="1040058">
                <a:moveTo>
                  <a:pt x="0" y="0"/>
                </a:moveTo>
                <a:lnTo>
                  <a:pt x="676983" y="0"/>
                </a:lnTo>
                <a:lnTo>
                  <a:pt x="676983" y="1040058"/>
                </a:lnTo>
                <a:lnTo>
                  <a:pt x="0" y="10400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24">
            <a:extLst>
              <a:ext uri="{FF2B5EF4-FFF2-40B4-BE49-F238E27FC236}">
                <a16:creationId xmlns:a16="http://schemas.microsoft.com/office/drawing/2014/main" id="{52CAC02A-56B9-20B3-EBC8-B1727990F794}"/>
              </a:ext>
            </a:extLst>
          </p:cNvPr>
          <p:cNvGrpSpPr/>
          <p:nvPr/>
        </p:nvGrpSpPr>
        <p:grpSpPr>
          <a:xfrm>
            <a:off x="1195018" y="3687965"/>
            <a:ext cx="6084678" cy="1004251"/>
            <a:chOff x="0" y="0"/>
            <a:chExt cx="646561" cy="256331"/>
          </a:xfrm>
        </p:grpSpPr>
        <p:sp>
          <p:nvSpPr>
            <p:cNvPr id="20" name="Freeform 25">
              <a:extLst>
                <a:ext uri="{FF2B5EF4-FFF2-40B4-BE49-F238E27FC236}">
                  <a16:creationId xmlns:a16="http://schemas.microsoft.com/office/drawing/2014/main" id="{DB2226D4-23AD-3BBC-03EB-4FD9E45177BA}"/>
                </a:ext>
              </a:extLst>
            </p:cNvPr>
            <p:cNvSpPr/>
            <p:nvPr/>
          </p:nvSpPr>
          <p:spPr>
            <a:xfrm>
              <a:off x="0" y="0"/>
              <a:ext cx="646561" cy="256331"/>
            </a:xfrm>
            <a:custGeom>
              <a:avLst/>
              <a:gdLst/>
              <a:ahLst/>
              <a:cxnLst/>
              <a:rect l="l" t="t" r="r" b="b"/>
              <a:pathLst>
                <a:path w="646561" h="256331">
                  <a:moveTo>
                    <a:pt x="128166" y="0"/>
                  </a:moveTo>
                  <a:lnTo>
                    <a:pt x="518396" y="0"/>
                  </a:lnTo>
                  <a:cubicBezTo>
                    <a:pt x="552388" y="0"/>
                    <a:pt x="584987" y="13503"/>
                    <a:pt x="609023" y="37539"/>
                  </a:cubicBezTo>
                  <a:cubicBezTo>
                    <a:pt x="633058" y="61575"/>
                    <a:pt x="646561" y="94174"/>
                    <a:pt x="646561" y="128166"/>
                  </a:cubicBezTo>
                  <a:lnTo>
                    <a:pt x="646561" y="128166"/>
                  </a:lnTo>
                  <a:cubicBezTo>
                    <a:pt x="646561" y="198949"/>
                    <a:pt x="589180" y="256331"/>
                    <a:pt x="518396" y="256331"/>
                  </a:cubicBezTo>
                  <a:lnTo>
                    <a:pt x="128166" y="256331"/>
                  </a:lnTo>
                  <a:cubicBezTo>
                    <a:pt x="94174" y="256331"/>
                    <a:pt x="61575" y="242828"/>
                    <a:pt x="37539" y="218792"/>
                  </a:cubicBezTo>
                  <a:cubicBezTo>
                    <a:pt x="13503" y="194757"/>
                    <a:pt x="0" y="162157"/>
                    <a:pt x="0" y="128166"/>
                  </a:cubicBezTo>
                  <a:lnTo>
                    <a:pt x="0" y="128166"/>
                  </a:lnTo>
                  <a:cubicBezTo>
                    <a:pt x="0" y="94174"/>
                    <a:pt x="13503" y="61575"/>
                    <a:pt x="37539" y="37539"/>
                  </a:cubicBezTo>
                  <a:cubicBezTo>
                    <a:pt x="61575" y="13503"/>
                    <a:pt x="94174" y="0"/>
                    <a:pt x="128166" y="0"/>
                  </a:cubicBezTo>
                  <a:close/>
                </a:path>
              </a:pathLst>
            </a:custGeom>
            <a:solidFill>
              <a:srgbClr val="A6D47B"/>
            </a:solidFill>
          </p:spPr>
        </p:sp>
        <p:sp>
          <p:nvSpPr>
            <p:cNvPr id="21" name="TextBox 26">
              <a:extLst>
                <a:ext uri="{FF2B5EF4-FFF2-40B4-BE49-F238E27FC236}">
                  <a16:creationId xmlns:a16="http://schemas.microsoft.com/office/drawing/2014/main" id="{BA7A2E98-741B-0834-B8F8-5F7E4CAAEADA}"/>
                </a:ext>
              </a:extLst>
            </p:cNvPr>
            <p:cNvSpPr txBox="1"/>
            <p:nvPr/>
          </p:nvSpPr>
          <p:spPr>
            <a:xfrm>
              <a:off x="0" y="-66675"/>
              <a:ext cx="646561" cy="323006"/>
            </a:xfrm>
            <a:prstGeom prst="rect">
              <a:avLst/>
            </a:prstGeom>
          </p:spPr>
          <p:txBody>
            <a:bodyPr lIns="29700" tIns="29700" rIns="29700" bIns="29700" rtlCol="0" anchor="ctr"/>
            <a:lstStyle/>
            <a:p>
              <a:pPr algn="ctr">
                <a:lnSpc>
                  <a:spcPts val="2709"/>
                </a:lnSpc>
              </a:pPr>
              <a:endParaRPr lang="en-US" sz="1935" dirty="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endParaRPr>
            </a:p>
          </p:txBody>
        </p:sp>
      </p:grpSp>
      <p:grpSp>
        <p:nvGrpSpPr>
          <p:cNvPr id="22" name="Group 24">
            <a:extLst>
              <a:ext uri="{FF2B5EF4-FFF2-40B4-BE49-F238E27FC236}">
                <a16:creationId xmlns:a16="http://schemas.microsoft.com/office/drawing/2014/main" id="{836C77E8-E010-E080-B9E3-7EF02E904603}"/>
              </a:ext>
            </a:extLst>
          </p:cNvPr>
          <p:cNvGrpSpPr/>
          <p:nvPr/>
        </p:nvGrpSpPr>
        <p:grpSpPr>
          <a:xfrm>
            <a:off x="1280960" y="5327186"/>
            <a:ext cx="6084678" cy="1004251"/>
            <a:chOff x="0" y="0"/>
            <a:chExt cx="646561" cy="256331"/>
          </a:xfrm>
        </p:grpSpPr>
        <p:sp>
          <p:nvSpPr>
            <p:cNvPr id="23" name="Freeform 25">
              <a:extLst>
                <a:ext uri="{FF2B5EF4-FFF2-40B4-BE49-F238E27FC236}">
                  <a16:creationId xmlns:a16="http://schemas.microsoft.com/office/drawing/2014/main" id="{3394450D-DFB5-B554-1B72-5FC7B040CFED}"/>
                </a:ext>
              </a:extLst>
            </p:cNvPr>
            <p:cNvSpPr/>
            <p:nvPr/>
          </p:nvSpPr>
          <p:spPr>
            <a:xfrm>
              <a:off x="0" y="0"/>
              <a:ext cx="646561" cy="256331"/>
            </a:xfrm>
            <a:custGeom>
              <a:avLst/>
              <a:gdLst/>
              <a:ahLst/>
              <a:cxnLst/>
              <a:rect l="l" t="t" r="r" b="b"/>
              <a:pathLst>
                <a:path w="646561" h="256331">
                  <a:moveTo>
                    <a:pt x="128166" y="0"/>
                  </a:moveTo>
                  <a:lnTo>
                    <a:pt x="518396" y="0"/>
                  </a:lnTo>
                  <a:cubicBezTo>
                    <a:pt x="552388" y="0"/>
                    <a:pt x="584987" y="13503"/>
                    <a:pt x="609023" y="37539"/>
                  </a:cubicBezTo>
                  <a:cubicBezTo>
                    <a:pt x="633058" y="61575"/>
                    <a:pt x="646561" y="94174"/>
                    <a:pt x="646561" y="128166"/>
                  </a:cubicBezTo>
                  <a:lnTo>
                    <a:pt x="646561" y="128166"/>
                  </a:lnTo>
                  <a:cubicBezTo>
                    <a:pt x="646561" y="198949"/>
                    <a:pt x="589180" y="256331"/>
                    <a:pt x="518396" y="256331"/>
                  </a:cubicBezTo>
                  <a:lnTo>
                    <a:pt x="128166" y="256331"/>
                  </a:lnTo>
                  <a:cubicBezTo>
                    <a:pt x="94174" y="256331"/>
                    <a:pt x="61575" y="242828"/>
                    <a:pt x="37539" y="218792"/>
                  </a:cubicBezTo>
                  <a:cubicBezTo>
                    <a:pt x="13503" y="194757"/>
                    <a:pt x="0" y="162157"/>
                    <a:pt x="0" y="128166"/>
                  </a:cubicBezTo>
                  <a:lnTo>
                    <a:pt x="0" y="128166"/>
                  </a:lnTo>
                  <a:cubicBezTo>
                    <a:pt x="0" y="94174"/>
                    <a:pt x="13503" y="61575"/>
                    <a:pt x="37539" y="37539"/>
                  </a:cubicBezTo>
                  <a:cubicBezTo>
                    <a:pt x="61575" y="13503"/>
                    <a:pt x="94174" y="0"/>
                    <a:pt x="128166" y="0"/>
                  </a:cubicBezTo>
                  <a:close/>
                </a:path>
              </a:pathLst>
            </a:custGeom>
            <a:solidFill>
              <a:srgbClr val="A6D47B"/>
            </a:solidFill>
          </p:spPr>
        </p:sp>
        <p:sp>
          <p:nvSpPr>
            <p:cNvPr id="24" name="TextBox 26">
              <a:extLst>
                <a:ext uri="{FF2B5EF4-FFF2-40B4-BE49-F238E27FC236}">
                  <a16:creationId xmlns:a16="http://schemas.microsoft.com/office/drawing/2014/main" id="{9E83C145-3C78-CC3B-E8B6-CADFDF4C234D}"/>
                </a:ext>
              </a:extLst>
            </p:cNvPr>
            <p:cNvSpPr txBox="1"/>
            <p:nvPr/>
          </p:nvSpPr>
          <p:spPr>
            <a:xfrm>
              <a:off x="0" y="-66675"/>
              <a:ext cx="646561" cy="323006"/>
            </a:xfrm>
            <a:prstGeom prst="rect">
              <a:avLst/>
            </a:prstGeom>
          </p:spPr>
          <p:txBody>
            <a:bodyPr lIns="29700" tIns="29700" rIns="29700" bIns="29700" rtlCol="0" anchor="ctr"/>
            <a:lstStyle/>
            <a:p>
              <a:pPr algn="ctr">
                <a:lnSpc>
                  <a:spcPts val="2709"/>
                </a:lnSpc>
              </a:pPr>
              <a:endParaRPr lang="en-US" sz="1935" dirty="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581220F-0400-8B5E-1B3C-409CC719F00B}"/>
              </a:ext>
            </a:extLst>
          </p:cNvPr>
          <p:cNvGrpSpPr/>
          <p:nvPr/>
        </p:nvGrpSpPr>
        <p:grpSpPr>
          <a:xfrm>
            <a:off x="10102009" y="3498573"/>
            <a:ext cx="6084678" cy="1004251"/>
            <a:chOff x="0" y="0"/>
            <a:chExt cx="646561" cy="256331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AD145B4-D566-9F99-F22D-5E2F1F223AF2}"/>
                </a:ext>
              </a:extLst>
            </p:cNvPr>
            <p:cNvSpPr/>
            <p:nvPr/>
          </p:nvSpPr>
          <p:spPr>
            <a:xfrm>
              <a:off x="0" y="0"/>
              <a:ext cx="646561" cy="256331"/>
            </a:xfrm>
            <a:custGeom>
              <a:avLst/>
              <a:gdLst/>
              <a:ahLst/>
              <a:cxnLst/>
              <a:rect l="l" t="t" r="r" b="b"/>
              <a:pathLst>
                <a:path w="646561" h="256331">
                  <a:moveTo>
                    <a:pt x="128166" y="0"/>
                  </a:moveTo>
                  <a:lnTo>
                    <a:pt x="518396" y="0"/>
                  </a:lnTo>
                  <a:cubicBezTo>
                    <a:pt x="552388" y="0"/>
                    <a:pt x="584987" y="13503"/>
                    <a:pt x="609023" y="37539"/>
                  </a:cubicBezTo>
                  <a:cubicBezTo>
                    <a:pt x="633058" y="61575"/>
                    <a:pt x="646561" y="94174"/>
                    <a:pt x="646561" y="128166"/>
                  </a:cubicBezTo>
                  <a:lnTo>
                    <a:pt x="646561" y="128166"/>
                  </a:lnTo>
                  <a:cubicBezTo>
                    <a:pt x="646561" y="198949"/>
                    <a:pt x="589180" y="256331"/>
                    <a:pt x="518396" y="256331"/>
                  </a:cubicBezTo>
                  <a:lnTo>
                    <a:pt x="128166" y="256331"/>
                  </a:lnTo>
                  <a:cubicBezTo>
                    <a:pt x="94174" y="256331"/>
                    <a:pt x="61575" y="242828"/>
                    <a:pt x="37539" y="218792"/>
                  </a:cubicBezTo>
                  <a:cubicBezTo>
                    <a:pt x="13503" y="194757"/>
                    <a:pt x="0" y="162157"/>
                    <a:pt x="0" y="128166"/>
                  </a:cubicBezTo>
                  <a:lnTo>
                    <a:pt x="0" y="128166"/>
                  </a:lnTo>
                  <a:cubicBezTo>
                    <a:pt x="0" y="94174"/>
                    <a:pt x="13503" y="61575"/>
                    <a:pt x="37539" y="37539"/>
                  </a:cubicBezTo>
                  <a:cubicBezTo>
                    <a:pt x="61575" y="13503"/>
                    <a:pt x="94174" y="0"/>
                    <a:pt x="128166" y="0"/>
                  </a:cubicBezTo>
                  <a:close/>
                </a:path>
              </a:pathLst>
            </a:custGeom>
            <a:solidFill>
              <a:srgbClr val="A6D47B"/>
            </a:solidFill>
          </p:spPr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C445225-14B3-4AF3-8FE3-898F82C456C2}"/>
                </a:ext>
              </a:extLst>
            </p:cNvPr>
            <p:cNvSpPr txBox="1"/>
            <p:nvPr/>
          </p:nvSpPr>
          <p:spPr>
            <a:xfrm>
              <a:off x="0" y="-66675"/>
              <a:ext cx="646561" cy="323006"/>
            </a:xfrm>
            <a:prstGeom prst="rect">
              <a:avLst/>
            </a:prstGeom>
          </p:spPr>
          <p:txBody>
            <a:bodyPr lIns="29700" tIns="29700" rIns="29700" bIns="29700" rtlCol="0" anchor="ctr"/>
            <a:lstStyle/>
            <a:p>
              <a:pPr algn="ctr">
                <a:lnSpc>
                  <a:spcPts val="2709"/>
                </a:lnSpc>
              </a:pPr>
              <a:endParaRPr lang="en-US" sz="1935" dirty="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45A62E5-5B27-7D96-336C-0308308FEB3C}"/>
              </a:ext>
            </a:extLst>
          </p:cNvPr>
          <p:cNvSpPr txBox="1"/>
          <p:nvPr/>
        </p:nvSpPr>
        <p:spPr>
          <a:xfrm>
            <a:off x="1961002" y="2200276"/>
            <a:ext cx="9144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Improved Crop Yield</a:t>
            </a:r>
            <a:br>
              <a:rPr lang="en-US" sz="2800" b="1" dirty="0"/>
            </a:br>
            <a:endParaRPr lang="en-US" sz="2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A0D95E-33D9-2918-BE02-0029CA11C14A}"/>
              </a:ext>
            </a:extLst>
          </p:cNvPr>
          <p:cNvSpPr txBox="1"/>
          <p:nvPr/>
        </p:nvSpPr>
        <p:spPr>
          <a:xfrm>
            <a:off x="1893099" y="3809936"/>
            <a:ext cx="9144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Cost Savings Over Time</a:t>
            </a:r>
            <a:br>
              <a:rPr lang="en-US" sz="2800" dirty="0"/>
            </a:br>
            <a:endParaRPr lang="en-US" sz="28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406A096-BFCA-23BD-0295-069421D13A95}"/>
              </a:ext>
            </a:extLst>
          </p:cNvPr>
          <p:cNvGrpSpPr/>
          <p:nvPr/>
        </p:nvGrpSpPr>
        <p:grpSpPr>
          <a:xfrm>
            <a:off x="10072496" y="1928641"/>
            <a:ext cx="6084678" cy="1004251"/>
            <a:chOff x="0" y="0"/>
            <a:chExt cx="646561" cy="256331"/>
          </a:xfrm>
        </p:grpSpPr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1634208A-C719-26B3-EC91-3EC3A8B299BB}"/>
                </a:ext>
              </a:extLst>
            </p:cNvPr>
            <p:cNvSpPr/>
            <p:nvPr/>
          </p:nvSpPr>
          <p:spPr>
            <a:xfrm>
              <a:off x="0" y="0"/>
              <a:ext cx="646561" cy="256331"/>
            </a:xfrm>
            <a:custGeom>
              <a:avLst/>
              <a:gdLst/>
              <a:ahLst/>
              <a:cxnLst/>
              <a:rect l="l" t="t" r="r" b="b"/>
              <a:pathLst>
                <a:path w="646561" h="256331">
                  <a:moveTo>
                    <a:pt x="128166" y="0"/>
                  </a:moveTo>
                  <a:lnTo>
                    <a:pt x="518396" y="0"/>
                  </a:lnTo>
                  <a:cubicBezTo>
                    <a:pt x="552388" y="0"/>
                    <a:pt x="584987" y="13503"/>
                    <a:pt x="609023" y="37539"/>
                  </a:cubicBezTo>
                  <a:cubicBezTo>
                    <a:pt x="633058" y="61575"/>
                    <a:pt x="646561" y="94174"/>
                    <a:pt x="646561" y="128166"/>
                  </a:cubicBezTo>
                  <a:lnTo>
                    <a:pt x="646561" y="128166"/>
                  </a:lnTo>
                  <a:cubicBezTo>
                    <a:pt x="646561" y="198949"/>
                    <a:pt x="589180" y="256331"/>
                    <a:pt x="518396" y="256331"/>
                  </a:cubicBezTo>
                  <a:lnTo>
                    <a:pt x="128166" y="256331"/>
                  </a:lnTo>
                  <a:cubicBezTo>
                    <a:pt x="94174" y="256331"/>
                    <a:pt x="61575" y="242828"/>
                    <a:pt x="37539" y="218792"/>
                  </a:cubicBezTo>
                  <a:cubicBezTo>
                    <a:pt x="13503" y="194757"/>
                    <a:pt x="0" y="162157"/>
                    <a:pt x="0" y="128166"/>
                  </a:cubicBezTo>
                  <a:lnTo>
                    <a:pt x="0" y="128166"/>
                  </a:lnTo>
                  <a:cubicBezTo>
                    <a:pt x="0" y="94174"/>
                    <a:pt x="13503" y="61575"/>
                    <a:pt x="37539" y="37539"/>
                  </a:cubicBezTo>
                  <a:cubicBezTo>
                    <a:pt x="61575" y="13503"/>
                    <a:pt x="94174" y="0"/>
                    <a:pt x="128166" y="0"/>
                  </a:cubicBezTo>
                  <a:close/>
                </a:path>
              </a:pathLst>
            </a:custGeom>
            <a:solidFill>
              <a:srgbClr val="A6D47B"/>
            </a:solidFill>
          </p:spPr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217B3E3-EDA2-34C0-262E-E2F7225181D1}"/>
                </a:ext>
              </a:extLst>
            </p:cNvPr>
            <p:cNvSpPr txBox="1"/>
            <p:nvPr/>
          </p:nvSpPr>
          <p:spPr>
            <a:xfrm>
              <a:off x="0" y="-66675"/>
              <a:ext cx="646561" cy="323006"/>
            </a:xfrm>
            <a:prstGeom prst="rect">
              <a:avLst/>
            </a:prstGeom>
          </p:spPr>
          <p:txBody>
            <a:bodyPr lIns="29700" tIns="29700" rIns="29700" bIns="29700" rtlCol="0" anchor="ctr"/>
            <a:lstStyle/>
            <a:p>
              <a:pPr algn="ctr">
                <a:lnSpc>
                  <a:spcPts val="2709"/>
                </a:lnSpc>
              </a:pPr>
              <a:endParaRPr lang="en-US" sz="1935" dirty="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836F6E9-714E-731B-ED66-EEB3D2DA7500}"/>
              </a:ext>
            </a:extLst>
          </p:cNvPr>
          <p:cNvGrpSpPr/>
          <p:nvPr/>
        </p:nvGrpSpPr>
        <p:grpSpPr>
          <a:xfrm>
            <a:off x="1280960" y="6868996"/>
            <a:ext cx="6084678" cy="1004251"/>
            <a:chOff x="0" y="0"/>
            <a:chExt cx="646561" cy="256331"/>
          </a:xfrm>
        </p:grpSpPr>
        <p:sp>
          <p:nvSpPr>
            <p:cNvPr id="47" name="Freeform 25">
              <a:extLst>
                <a:ext uri="{FF2B5EF4-FFF2-40B4-BE49-F238E27FC236}">
                  <a16:creationId xmlns:a16="http://schemas.microsoft.com/office/drawing/2014/main" id="{E9A3E2CA-456A-BE2C-FCEA-CEB55A6B5474}"/>
                </a:ext>
              </a:extLst>
            </p:cNvPr>
            <p:cNvSpPr/>
            <p:nvPr/>
          </p:nvSpPr>
          <p:spPr>
            <a:xfrm>
              <a:off x="0" y="0"/>
              <a:ext cx="646561" cy="256331"/>
            </a:xfrm>
            <a:custGeom>
              <a:avLst/>
              <a:gdLst/>
              <a:ahLst/>
              <a:cxnLst/>
              <a:rect l="l" t="t" r="r" b="b"/>
              <a:pathLst>
                <a:path w="646561" h="256331">
                  <a:moveTo>
                    <a:pt x="128166" y="0"/>
                  </a:moveTo>
                  <a:lnTo>
                    <a:pt x="518396" y="0"/>
                  </a:lnTo>
                  <a:cubicBezTo>
                    <a:pt x="552388" y="0"/>
                    <a:pt x="584987" y="13503"/>
                    <a:pt x="609023" y="37539"/>
                  </a:cubicBezTo>
                  <a:cubicBezTo>
                    <a:pt x="633058" y="61575"/>
                    <a:pt x="646561" y="94174"/>
                    <a:pt x="646561" y="128166"/>
                  </a:cubicBezTo>
                  <a:lnTo>
                    <a:pt x="646561" y="128166"/>
                  </a:lnTo>
                  <a:cubicBezTo>
                    <a:pt x="646561" y="198949"/>
                    <a:pt x="589180" y="256331"/>
                    <a:pt x="518396" y="256331"/>
                  </a:cubicBezTo>
                  <a:lnTo>
                    <a:pt x="128166" y="256331"/>
                  </a:lnTo>
                  <a:cubicBezTo>
                    <a:pt x="94174" y="256331"/>
                    <a:pt x="61575" y="242828"/>
                    <a:pt x="37539" y="218792"/>
                  </a:cubicBezTo>
                  <a:cubicBezTo>
                    <a:pt x="13503" y="194757"/>
                    <a:pt x="0" y="162157"/>
                    <a:pt x="0" y="128166"/>
                  </a:cubicBezTo>
                  <a:lnTo>
                    <a:pt x="0" y="128166"/>
                  </a:lnTo>
                  <a:cubicBezTo>
                    <a:pt x="0" y="94174"/>
                    <a:pt x="13503" y="61575"/>
                    <a:pt x="37539" y="37539"/>
                  </a:cubicBezTo>
                  <a:cubicBezTo>
                    <a:pt x="61575" y="13503"/>
                    <a:pt x="94174" y="0"/>
                    <a:pt x="128166" y="0"/>
                  </a:cubicBezTo>
                  <a:close/>
                </a:path>
              </a:pathLst>
            </a:custGeom>
            <a:solidFill>
              <a:srgbClr val="A6D47B"/>
            </a:solidFill>
          </p:spPr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2833EBC-7630-D996-E24A-846F6EE026F3}"/>
                </a:ext>
              </a:extLst>
            </p:cNvPr>
            <p:cNvSpPr txBox="1"/>
            <p:nvPr/>
          </p:nvSpPr>
          <p:spPr>
            <a:xfrm>
              <a:off x="0" y="-66675"/>
              <a:ext cx="646561" cy="323006"/>
            </a:xfrm>
            <a:prstGeom prst="rect">
              <a:avLst/>
            </a:prstGeom>
          </p:spPr>
          <p:txBody>
            <a:bodyPr lIns="29700" tIns="29700" rIns="29700" bIns="29700" rtlCol="0" anchor="ctr"/>
            <a:lstStyle/>
            <a:p>
              <a:pPr algn="ctr">
                <a:lnSpc>
                  <a:spcPts val="2709"/>
                </a:lnSpc>
              </a:pPr>
              <a:endParaRPr lang="en-US" sz="1935" dirty="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B6A2AEA-B2CF-91E2-18D0-5950940DB904}"/>
              </a:ext>
            </a:extLst>
          </p:cNvPr>
          <p:cNvGrpSpPr/>
          <p:nvPr/>
        </p:nvGrpSpPr>
        <p:grpSpPr>
          <a:xfrm>
            <a:off x="10333921" y="6973885"/>
            <a:ext cx="6084678" cy="1004251"/>
            <a:chOff x="0" y="0"/>
            <a:chExt cx="646561" cy="256331"/>
          </a:xfrm>
        </p:grpSpPr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033D3317-6F4C-4142-0D0E-C5594F68AB5A}"/>
                </a:ext>
              </a:extLst>
            </p:cNvPr>
            <p:cNvSpPr/>
            <p:nvPr/>
          </p:nvSpPr>
          <p:spPr>
            <a:xfrm>
              <a:off x="0" y="0"/>
              <a:ext cx="646561" cy="256331"/>
            </a:xfrm>
            <a:custGeom>
              <a:avLst/>
              <a:gdLst/>
              <a:ahLst/>
              <a:cxnLst/>
              <a:rect l="l" t="t" r="r" b="b"/>
              <a:pathLst>
                <a:path w="646561" h="256331">
                  <a:moveTo>
                    <a:pt x="128166" y="0"/>
                  </a:moveTo>
                  <a:lnTo>
                    <a:pt x="518396" y="0"/>
                  </a:lnTo>
                  <a:cubicBezTo>
                    <a:pt x="552388" y="0"/>
                    <a:pt x="584987" y="13503"/>
                    <a:pt x="609023" y="37539"/>
                  </a:cubicBezTo>
                  <a:cubicBezTo>
                    <a:pt x="633058" y="61575"/>
                    <a:pt x="646561" y="94174"/>
                    <a:pt x="646561" y="128166"/>
                  </a:cubicBezTo>
                  <a:lnTo>
                    <a:pt x="646561" y="128166"/>
                  </a:lnTo>
                  <a:cubicBezTo>
                    <a:pt x="646561" y="198949"/>
                    <a:pt x="589180" y="256331"/>
                    <a:pt x="518396" y="256331"/>
                  </a:cubicBezTo>
                  <a:lnTo>
                    <a:pt x="128166" y="256331"/>
                  </a:lnTo>
                  <a:cubicBezTo>
                    <a:pt x="94174" y="256331"/>
                    <a:pt x="61575" y="242828"/>
                    <a:pt x="37539" y="218792"/>
                  </a:cubicBezTo>
                  <a:cubicBezTo>
                    <a:pt x="13503" y="194757"/>
                    <a:pt x="0" y="162157"/>
                    <a:pt x="0" y="128166"/>
                  </a:cubicBezTo>
                  <a:lnTo>
                    <a:pt x="0" y="128166"/>
                  </a:lnTo>
                  <a:cubicBezTo>
                    <a:pt x="0" y="94174"/>
                    <a:pt x="13503" y="61575"/>
                    <a:pt x="37539" y="37539"/>
                  </a:cubicBezTo>
                  <a:cubicBezTo>
                    <a:pt x="61575" y="13503"/>
                    <a:pt x="94174" y="0"/>
                    <a:pt x="128166" y="0"/>
                  </a:cubicBezTo>
                  <a:close/>
                </a:path>
              </a:pathLst>
            </a:custGeom>
            <a:solidFill>
              <a:srgbClr val="A6D47B"/>
            </a:solidFill>
          </p:spPr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2E42EA3-629B-2088-DEDD-8F794E286EBA}"/>
                </a:ext>
              </a:extLst>
            </p:cNvPr>
            <p:cNvSpPr txBox="1"/>
            <p:nvPr/>
          </p:nvSpPr>
          <p:spPr>
            <a:xfrm>
              <a:off x="0" y="-66675"/>
              <a:ext cx="646561" cy="323006"/>
            </a:xfrm>
            <a:prstGeom prst="rect">
              <a:avLst/>
            </a:prstGeom>
          </p:spPr>
          <p:txBody>
            <a:bodyPr lIns="29700" tIns="29700" rIns="29700" bIns="29700" rtlCol="0" anchor="ctr"/>
            <a:lstStyle/>
            <a:p>
              <a:pPr algn="ctr">
                <a:lnSpc>
                  <a:spcPts val="2709"/>
                </a:lnSpc>
              </a:pPr>
              <a:endParaRPr lang="en-US" sz="1935" dirty="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8471C1A-33F8-6D7F-EFAF-46A76A58F0F0}"/>
              </a:ext>
            </a:extLst>
          </p:cNvPr>
          <p:cNvGrpSpPr/>
          <p:nvPr/>
        </p:nvGrpSpPr>
        <p:grpSpPr>
          <a:xfrm>
            <a:off x="10102009" y="5240900"/>
            <a:ext cx="6084678" cy="1004251"/>
            <a:chOff x="0" y="0"/>
            <a:chExt cx="646561" cy="256331"/>
          </a:xfrm>
        </p:grpSpPr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5536CBA4-E388-7964-BECA-F7DA157228A5}"/>
                </a:ext>
              </a:extLst>
            </p:cNvPr>
            <p:cNvSpPr/>
            <p:nvPr/>
          </p:nvSpPr>
          <p:spPr>
            <a:xfrm>
              <a:off x="0" y="0"/>
              <a:ext cx="646561" cy="256331"/>
            </a:xfrm>
            <a:custGeom>
              <a:avLst/>
              <a:gdLst/>
              <a:ahLst/>
              <a:cxnLst/>
              <a:rect l="l" t="t" r="r" b="b"/>
              <a:pathLst>
                <a:path w="646561" h="256331">
                  <a:moveTo>
                    <a:pt x="128166" y="0"/>
                  </a:moveTo>
                  <a:lnTo>
                    <a:pt x="518396" y="0"/>
                  </a:lnTo>
                  <a:cubicBezTo>
                    <a:pt x="552388" y="0"/>
                    <a:pt x="584987" y="13503"/>
                    <a:pt x="609023" y="37539"/>
                  </a:cubicBezTo>
                  <a:cubicBezTo>
                    <a:pt x="633058" y="61575"/>
                    <a:pt x="646561" y="94174"/>
                    <a:pt x="646561" y="128166"/>
                  </a:cubicBezTo>
                  <a:lnTo>
                    <a:pt x="646561" y="128166"/>
                  </a:lnTo>
                  <a:cubicBezTo>
                    <a:pt x="646561" y="198949"/>
                    <a:pt x="589180" y="256331"/>
                    <a:pt x="518396" y="256331"/>
                  </a:cubicBezTo>
                  <a:lnTo>
                    <a:pt x="128166" y="256331"/>
                  </a:lnTo>
                  <a:cubicBezTo>
                    <a:pt x="94174" y="256331"/>
                    <a:pt x="61575" y="242828"/>
                    <a:pt x="37539" y="218792"/>
                  </a:cubicBezTo>
                  <a:cubicBezTo>
                    <a:pt x="13503" y="194757"/>
                    <a:pt x="0" y="162157"/>
                    <a:pt x="0" y="128166"/>
                  </a:cubicBezTo>
                  <a:lnTo>
                    <a:pt x="0" y="128166"/>
                  </a:lnTo>
                  <a:cubicBezTo>
                    <a:pt x="0" y="94174"/>
                    <a:pt x="13503" y="61575"/>
                    <a:pt x="37539" y="37539"/>
                  </a:cubicBezTo>
                  <a:cubicBezTo>
                    <a:pt x="61575" y="13503"/>
                    <a:pt x="94174" y="0"/>
                    <a:pt x="128166" y="0"/>
                  </a:cubicBezTo>
                  <a:close/>
                </a:path>
              </a:pathLst>
            </a:custGeom>
            <a:solidFill>
              <a:srgbClr val="A6D47B"/>
            </a:solidFill>
          </p:spPr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F867B4A-3A0E-A1B6-24B1-4C9EA3C54774}"/>
                </a:ext>
              </a:extLst>
            </p:cNvPr>
            <p:cNvSpPr txBox="1"/>
            <p:nvPr/>
          </p:nvSpPr>
          <p:spPr>
            <a:xfrm>
              <a:off x="0" y="-66675"/>
              <a:ext cx="646561" cy="323006"/>
            </a:xfrm>
            <a:prstGeom prst="rect">
              <a:avLst/>
            </a:prstGeom>
          </p:spPr>
          <p:txBody>
            <a:bodyPr lIns="29700" tIns="29700" rIns="29700" bIns="29700" rtlCol="0" anchor="ctr"/>
            <a:lstStyle/>
            <a:p>
              <a:pPr algn="ctr">
                <a:lnSpc>
                  <a:spcPts val="2709"/>
                </a:lnSpc>
              </a:pPr>
              <a:endParaRPr lang="en-US" sz="1935" dirty="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469BEE7E-E58E-4860-1DD6-509E12CD1106}"/>
              </a:ext>
            </a:extLst>
          </p:cNvPr>
          <p:cNvSpPr txBox="1"/>
          <p:nvPr/>
        </p:nvSpPr>
        <p:spPr>
          <a:xfrm>
            <a:off x="11037099" y="2107280"/>
            <a:ext cx="100738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Food Security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804C03-0F5E-B69B-95FD-53D67C5659FE}"/>
              </a:ext>
            </a:extLst>
          </p:cNvPr>
          <p:cNvSpPr txBox="1"/>
          <p:nvPr/>
        </p:nvSpPr>
        <p:spPr>
          <a:xfrm>
            <a:off x="11005723" y="3691349"/>
            <a:ext cx="9144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Early Detection of Issues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5A0822E-4E93-C096-FB4D-1461B8CFEF05}"/>
              </a:ext>
            </a:extLst>
          </p:cNvPr>
          <p:cNvSpPr txBox="1"/>
          <p:nvPr/>
        </p:nvSpPr>
        <p:spPr>
          <a:xfrm>
            <a:off x="10333921" y="5504439"/>
            <a:ext cx="100738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Promotes Smart Agriculture Adoption</a:t>
            </a:r>
            <a:br>
              <a:rPr lang="en-US" sz="2800" b="1" dirty="0"/>
            </a:br>
            <a:endParaRPr lang="en-US" sz="28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34D03F-857B-568D-37CF-8D583E6AC646}"/>
              </a:ext>
            </a:extLst>
          </p:cNvPr>
          <p:cNvSpPr txBox="1"/>
          <p:nvPr/>
        </p:nvSpPr>
        <p:spPr>
          <a:xfrm>
            <a:off x="1893099" y="5129105"/>
            <a:ext cx="1007389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2800" dirty="0"/>
            </a:br>
            <a:r>
              <a:rPr lang="en-US" sz="2800" b="1" dirty="0"/>
              <a:t>Water Conservation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D0C203-4E73-89C4-C7AA-71BC136C0749}"/>
              </a:ext>
            </a:extLst>
          </p:cNvPr>
          <p:cNvSpPr txBox="1"/>
          <p:nvPr/>
        </p:nvSpPr>
        <p:spPr>
          <a:xfrm>
            <a:off x="10554842" y="7184429"/>
            <a:ext cx="100738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Empowers Small and Large Farmers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450DBA-0C57-8C97-E945-49B9B0274593}"/>
              </a:ext>
            </a:extLst>
          </p:cNvPr>
          <p:cNvSpPr txBox="1"/>
          <p:nvPr/>
        </p:nvSpPr>
        <p:spPr>
          <a:xfrm>
            <a:off x="1863740" y="7100905"/>
            <a:ext cx="100738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Real-Time Decision Making:</a:t>
            </a:r>
            <a:br>
              <a:rPr lang="en-US" sz="2800" b="1" dirty="0"/>
            </a:br>
            <a:endParaRPr lang="en-US" sz="2800" b="1" dirty="0"/>
          </a:p>
        </p:txBody>
      </p:sp>
      <p:sp>
        <p:nvSpPr>
          <p:cNvPr id="62" name="Freeform 44"/>
          <p:cNvSpPr/>
          <p:nvPr/>
        </p:nvSpPr>
        <p:spPr>
          <a:xfrm rot="1364005">
            <a:off x="17516584" y="326536"/>
            <a:ext cx="526381" cy="451457"/>
          </a:xfrm>
          <a:custGeom>
            <a:avLst/>
            <a:gdLst/>
            <a:ahLst/>
            <a:cxnLst/>
            <a:rect l="l" t="t" r="r" b="b"/>
            <a:pathLst>
              <a:path w="526381" h="451457">
                <a:moveTo>
                  <a:pt x="0" y="0"/>
                </a:moveTo>
                <a:lnTo>
                  <a:pt x="526381" y="0"/>
                </a:lnTo>
                <a:lnTo>
                  <a:pt x="526381" y="451457"/>
                </a:lnTo>
                <a:lnTo>
                  <a:pt x="0" y="4514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8610" b="-130378"/>
            </a:stretch>
          </a:blipFill>
        </p:spPr>
      </p:sp>
    </p:spTree>
    <p:extLst>
      <p:ext uri="{BB962C8B-B14F-4D97-AF65-F5344CB8AC3E}">
        <p14:creationId xmlns:p14="http://schemas.microsoft.com/office/powerpoint/2010/main" val="66323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">
            <a:extLst>
              <a:ext uri="{FF2B5EF4-FFF2-40B4-BE49-F238E27FC236}">
                <a16:creationId xmlns:a16="http://schemas.microsoft.com/office/drawing/2014/main" id="{0A63FF37-E329-017F-B306-66DF65ED4A4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57" b="-2182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F716EF4B-27C4-0A6A-C14E-A22C977E9A2F}"/>
              </a:ext>
            </a:extLst>
          </p:cNvPr>
          <p:cNvSpPr txBox="1"/>
          <p:nvPr/>
        </p:nvSpPr>
        <p:spPr>
          <a:xfrm>
            <a:off x="762000" y="3543300"/>
            <a:ext cx="16192235" cy="1503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1495"/>
              </a:lnSpc>
              <a:spcBef>
                <a:spcPct val="0"/>
              </a:spcBef>
            </a:pPr>
            <a:r>
              <a:rPr lang="en-US" sz="13800" b="1" dirty="0">
                <a:solidFill>
                  <a:srgbClr val="34482A"/>
                </a:solidFill>
                <a:latin typeface="HP Simplified" panose="020B0604020204020204" pitchFamily="34" charset="0"/>
                <a:ea typeface="Inter Bold"/>
                <a:cs typeface="Inter Bold"/>
                <a:sym typeface="Inter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75</Words>
  <Application>Microsoft Office PowerPoint</Application>
  <PresentationFormat>Custom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Bryndan Write</vt:lpstr>
      <vt:lpstr>Poppins</vt:lpstr>
      <vt:lpstr>Arial</vt:lpstr>
      <vt:lpstr>HP Simplified</vt:lpstr>
      <vt:lpstr>Open Sans Bold</vt:lpstr>
      <vt:lpstr>Century</vt:lpstr>
      <vt:lpstr>HP Simplified Jpan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Modern Agriculture Presentation</dc:title>
  <cp:lastModifiedBy>Zareen Bushra</cp:lastModifiedBy>
  <cp:revision>5</cp:revision>
  <dcterms:created xsi:type="dcterms:W3CDTF">2006-08-16T00:00:00Z</dcterms:created>
  <dcterms:modified xsi:type="dcterms:W3CDTF">2025-07-29T03:45:38Z</dcterms:modified>
  <dc:identifier>DAGuehXpFiY</dc:identifier>
</cp:coreProperties>
</file>